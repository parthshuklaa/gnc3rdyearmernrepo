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Alexandria Semi Bold"/>
      <p:regular r:id="rId17"/>
    </p:embeddedFont>
    <p:embeddedFont>
      <p:font typeface="Alexandria Semi Bold"/>
      <p:regular r:id="rId18"/>
    </p:embeddedFont>
    <p:embeddedFont>
      <p:font typeface="Sora Light"/>
      <p:regular r:id="rId19"/>
    </p:embeddedFont>
    <p:embeddedFont>
      <p:font typeface="Sora Light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5DC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28" y="162282"/>
            <a:ext cx="5269944" cy="79049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4709" y="2394109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Advanced React Development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6244709" y="4144447"/>
            <a:ext cx="1824990" cy="407075"/>
          </a:xfrm>
          <a:prstGeom prst="roundRect">
            <a:avLst>
              <a:gd name="adj" fmla="val 17883"/>
            </a:avLst>
          </a:prstGeom>
          <a:solidFill>
            <a:srgbClr val="D5DCF6"/>
          </a:solidFill>
          <a:ln/>
        </p:spPr>
      </p:sp>
      <p:sp>
        <p:nvSpPr>
          <p:cNvPr id="6" name="Text 3"/>
          <p:cNvSpPr/>
          <p:nvPr/>
        </p:nvSpPr>
        <p:spPr>
          <a:xfrm>
            <a:off x="6374606" y="4209336"/>
            <a:ext cx="1565196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MODULE 2 · DAY 2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244709" y="4795242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hands-on, 6-hour deep dive into dynamic UIs, multi-page routing, and real-world API integration — everything you need to build production-ready React applications.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5DC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28" y="162282"/>
            <a:ext cx="5269944" cy="79049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4709" y="1117640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Conditional Rendering &amp; Dynamic Lists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44709" y="3084552"/>
            <a:ext cx="327421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Conditional Rendering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44709" y="3657362"/>
            <a:ext cx="3549372" cy="1741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Control what the UI shows based on state and props using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, ternary operators, and early returns. Avoid rendering stale or irrelevant UI.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330339" y="308455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Lists &amp; Keys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330339" y="3657362"/>
            <a:ext cx="3549372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Render collections efficiently with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.map()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 Use stable, unique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props to help React reconcile the virtual DOM without unnecessary re-renders.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44709" y="5844778"/>
            <a:ext cx="7627382" cy="1267182"/>
          </a:xfrm>
          <a:prstGeom prst="roundRect">
            <a:avLst>
              <a:gd name="adj" fmla="val 7181"/>
            </a:avLst>
          </a:prstGeom>
          <a:solidFill>
            <a:srgbClr val="C0CAF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284" y="6169700"/>
            <a:ext cx="270748" cy="2165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8607" y="6115407"/>
            <a:ext cx="670691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Keys must be stable and unique among siblings — avoid using array index as a key in dynamic lists.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734264"/>
            <a:ext cx="8278654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Forms Handling &amp; Validation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2880241"/>
            <a:ext cx="4226838" cy="3024664"/>
          </a:xfrm>
          <a:prstGeom prst="roundRect">
            <a:avLst>
              <a:gd name="adj" fmla="val 3009"/>
            </a:avLst>
          </a:prstGeom>
          <a:solidFill>
            <a:srgbClr val="FFFAFA"/>
          </a:solidFill>
          <a:ln w="30480">
            <a:solidFill>
              <a:srgbClr val="BBC2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8789" y="2910721"/>
            <a:ext cx="4165878" cy="649962"/>
          </a:xfrm>
          <a:prstGeom prst="roundRect">
            <a:avLst>
              <a:gd name="adj" fmla="val 8373"/>
            </a:avLst>
          </a:prstGeom>
          <a:solidFill>
            <a:srgbClr val="D5DCF6"/>
          </a:solidFill>
          <a:ln/>
        </p:spPr>
      </p:sp>
      <p:sp>
        <p:nvSpPr>
          <p:cNvPr id="5" name="Text 3"/>
          <p:cNvSpPr/>
          <p:nvPr/>
        </p:nvSpPr>
        <p:spPr>
          <a:xfrm>
            <a:off x="2709267" y="3028712"/>
            <a:ext cx="324922" cy="406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005364" y="3777258"/>
            <a:ext cx="346864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Controlled Components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364" y="4263390"/>
            <a:ext cx="3732728" cy="1055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Bind every input to state via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+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onChange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 React owns the source of truth for all form data.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201722" y="2880241"/>
            <a:ext cx="4226838" cy="3024664"/>
          </a:xfrm>
          <a:prstGeom prst="roundRect">
            <a:avLst>
              <a:gd name="adj" fmla="val 3009"/>
            </a:avLst>
          </a:prstGeom>
          <a:solidFill>
            <a:srgbClr val="FFFAFA"/>
          </a:solidFill>
          <a:ln w="30480">
            <a:solidFill>
              <a:srgbClr val="BBC2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32202" y="2910721"/>
            <a:ext cx="4165878" cy="649962"/>
          </a:xfrm>
          <a:prstGeom prst="roundRect">
            <a:avLst>
              <a:gd name="adj" fmla="val 8373"/>
            </a:avLst>
          </a:prstGeom>
          <a:solidFill>
            <a:srgbClr val="D5DCF6"/>
          </a:solidFill>
          <a:ln/>
        </p:spPr>
      </p:sp>
      <p:sp>
        <p:nvSpPr>
          <p:cNvPr id="10" name="Text 8"/>
          <p:cNvSpPr/>
          <p:nvPr/>
        </p:nvSpPr>
        <p:spPr>
          <a:xfrm>
            <a:off x="7152680" y="3028712"/>
            <a:ext cx="324922" cy="406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448776" y="3777258"/>
            <a:ext cx="301406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Validation Strategies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48776" y="4263390"/>
            <a:ext cx="3732728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Validate on blur, on change, or on submit. Use inline logic or libraries like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Yup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for schema-based rules.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645134" y="2880241"/>
            <a:ext cx="4226957" cy="3024664"/>
          </a:xfrm>
          <a:prstGeom prst="roundRect">
            <a:avLst>
              <a:gd name="adj" fmla="val 3009"/>
            </a:avLst>
          </a:prstGeom>
          <a:solidFill>
            <a:srgbClr val="FFFAFA"/>
          </a:solidFill>
          <a:ln w="30480">
            <a:solidFill>
              <a:srgbClr val="BBC2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75614" y="2910721"/>
            <a:ext cx="4165997" cy="649962"/>
          </a:xfrm>
          <a:prstGeom prst="roundRect">
            <a:avLst>
              <a:gd name="adj" fmla="val 8373"/>
            </a:avLst>
          </a:prstGeom>
          <a:solidFill>
            <a:srgbClr val="D5DCF6"/>
          </a:solidFill>
          <a:ln/>
        </p:spPr>
      </p:sp>
      <p:sp>
        <p:nvSpPr>
          <p:cNvPr id="15" name="Text 13"/>
          <p:cNvSpPr/>
          <p:nvPr/>
        </p:nvSpPr>
        <p:spPr>
          <a:xfrm>
            <a:off x="11596092" y="3028712"/>
            <a:ext cx="324922" cy="406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892189" y="377725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Error Feedback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92189" y="4263390"/>
            <a:ext cx="3732848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Display contextual error messages tied to each field. Keep UX smooth — surface errors without disrupting the user's flow.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58309" y="6148626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Lab goal: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Build a multi-field form with real-time validation and conditional submit behaviour.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9016" y="631984"/>
            <a:ext cx="7926229" cy="65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Component Lifecycle &amp; Hooks</a:t>
            </a:r>
            <a:endParaRPr lang="en-US" sz="4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7840" y="2324100"/>
            <a:ext cx="6292810" cy="373475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84" y="3236936"/>
            <a:ext cx="535694" cy="5356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47714" y="5184520"/>
            <a:ext cx="1564228" cy="317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Unmount</a:t>
            </a:r>
            <a:endParaRPr lang="en-US" sz="19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3840" y="3237940"/>
            <a:ext cx="535695" cy="53569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176358" y="5184520"/>
            <a:ext cx="1564228" cy="317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Update</a:t>
            </a:r>
            <a:endParaRPr lang="en-US" sz="19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92484" y="3237940"/>
            <a:ext cx="535695" cy="53569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172861" y="5184520"/>
            <a:ext cx="1564228" cy="317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Mount</a:t>
            </a:r>
            <a:endParaRPr lang="en-US" sz="1950" dirty="0"/>
          </a:p>
        </p:txBody>
      </p:sp>
      <p:sp>
        <p:nvSpPr>
          <p:cNvPr id="10" name="Text 4"/>
          <p:cNvSpPr/>
          <p:nvPr/>
        </p:nvSpPr>
        <p:spPr>
          <a:xfrm>
            <a:off x="699016" y="6265902"/>
            <a:ext cx="8430458" cy="61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Understanding the lifecycle helps you control side effects, prevent memory leaks, and optimise rendering behaviour.</a:t>
            </a:r>
            <a:endParaRPr lang="en-US" sz="1550" dirty="0"/>
          </a:p>
        </p:txBody>
      </p:sp>
      <p:sp>
        <p:nvSpPr>
          <p:cNvPr id="11" name="Text 5"/>
          <p:cNvSpPr/>
          <p:nvPr/>
        </p:nvSpPr>
        <p:spPr>
          <a:xfrm>
            <a:off x="9624298" y="1749147"/>
            <a:ext cx="2628067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Essential Hooks</a:t>
            </a:r>
            <a:endParaRPr lang="en-US" sz="2050" dirty="0"/>
          </a:p>
        </p:txBody>
      </p:sp>
      <p:sp>
        <p:nvSpPr>
          <p:cNvPr id="12" name="Shape 6"/>
          <p:cNvSpPr/>
          <p:nvPr/>
        </p:nvSpPr>
        <p:spPr>
          <a:xfrm>
            <a:off x="9601438" y="2261711"/>
            <a:ext cx="45720" cy="1502212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13" name="Text 7"/>
          <p:cNvSpPr/>
          <p:nvPr/>
        </p:nvSpPr>
        <p:spPr>
          <a:xfrm>
            <a:off x="9869686" y="2284571"/>
            <a:ext cx="2628067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</a:t>
            </a:r>
            <a:endParaRPr lang="en-US" sz="2050" dirty="0"/>
          </a:p>
        </p:txBody>
      </p:sp>
      <p:sp>
        <p:nvSpPr>
          <p:cNvPr id="14" name="Text 8"/>
          <p:cNvSpPr/>
          <p:nvPr/>
        </p:nvSpPr>
        <p:spPr>
          <a:xfrm>
            <a:off x="9869686" y="2819876"/>
            <a:ext cx="4069199" cy="921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Run side effects after render. Return a cleanup function to prevent leaks on unmount.</a:t>
            </a:r>
            <a:endParaRPr lang="en-US" sz="1550" dirty="0"/>
          </a:p>
        </p:txBody>
      </p:sp>
      <p:sp>
        <p:nvSpPr>
          <p:cNvPr id="15" name="Shape 9"/>
          <p:cNvSpPr/>
          <p:nvPr/>
        </p:nvSpPr>
        <p:spPr>
          <a:xfrm>
            <a:off x="9601438" y="4086463"/>
            <a:ext cx="45720" cy="1502212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16" name="Text 10"/>
          <p:cNvSpPr/>
          <p:nvPr/>
        </p:nvSpPr>
        <p:spPr>
          <a:xfrm>
            <a:off x="9869686" y="4109323"/>
            <a:ext cx="2628067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useRef</a:t>
            </a:r>
            <a:endParaRPr lang="en-US" sz="2050" dirty="0"/>
          </a:p>
        </p:txBody>
      </p:sp>
      <p:sp>
        <p:nvSpPr>
          <p:cNvPr id="17" name="Text 11"/>
          <p:cNvSpPr/>
          <p:nvPr/>
        </p:nvSpPr>
        <p:spPr>
          <a:xfrm>
            <a:off x="9869686" y="4644628"/>
            <a:ext cx="4069199" cy="921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Persist values across renders without triggering re-renders. Great for DOM access.</a:t>
            </a:r>
            <a:endParaRPr lang="en-US" sz="1550" dirty="0"/>
          </a:p>
        </p:txBody>
      </p:sp>
      <p:sp>
        <p:nvSpPr>
          <p:cNvPr id="18" name="Shape 12"/>
          <p:cNvSpPr/>
          <p:nvPr/>
        </p:nvSpPr>
        <p:spPr>
          <a:xfrm>
            <a:off x="9601438" y="5911215"/>
            <a:ext cx="45720" cy="1502212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19" name="Text 13"/>
          <p:cNvSpPr/>
          <p:nvPr/>
        </p:nvSpPr>
        <p:spPr>
          <a:xfrm>
            <a:off x="9869686" y="5934075"/>
            <a:ext cx="2920365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useCallback</a:t>
            </a:r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 / </a:t>
            </a:r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useMemo</a:t>
            </a:r>
            <a:endParaRPr lang="en-US" sz="2050" dirty="0"/>
          </a:p>
        </p:txBody>
      </p:sp>
      <p:sp>
        <p:nvSpPr>
          <p:cNvPr id="20" name="Text 14"/>
          <p:cNvSpPr/>
          <p:nvPr/>
        </p:nvSpPr>
        <p:spPr>
          <a:xfrm>
            <a:off x="9869686" y="6469380"/>
            <a:ext cx="4069199" cy="921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Memoize functions and computed values to avoid unnecessary child re-renders.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5DC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28" y="162282"/>
            <a:ext cx="5269944" cy="79049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4709" y="625197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React Event System &amp; Passing Arguments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6244709" y="2375535"/>
            <a:ext cx="3705344" cy="3037642"/>
          </a:xfrm>
          <a:prstGeom prst="roundRect">
            <a:avLst>
              <a:gd name="adj" fmla="val 2996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68904" y="259973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Synthetic Events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68904" y="3085862"/>
            <a:ext cx="32569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React wraps native browser events in a cross-browser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SyntheticEvent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 Access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e.target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,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e.preventDefault()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, and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e.stopPropagation()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reliably across environments.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0166628" y="2375535"/>
            <a:ext cx="3705463" cy="3037642"/>
          </a:xfrm>
          <a:prstGeom prst="roundRect">
            <a:avLst>
              <a:gd name="adj" fmla="val 2996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90823" y="259973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Passing Arguments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390823" y="3085862"/>
            <a:ext cx="3257074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 arrow functions or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.bind()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to pass extra data to handlers: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onClick={() =&gt; handleDelete(id)}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 Avoid creating new functions in render loops.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44709" y="5629751"/>
            <a:ext cx="7627382" cy="1974652"/>
          </a:xfrm>
          <a:prstGeom prst="roundRect">
            <a:avLst>
              <a:gd name="adj" fmla="val 460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68904" y="585394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Event Delegation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468904" y="6340078"/>
            <a:ext cx="7178993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React attaches a single root listener rather than per-element listeners. This makes large lists highly performant with minimal memory overhead.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5DC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28" y="162282"/>
            <a:ext cx="5269944" cy="790491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44709" y="2465070"/>
            <a:ext cx="1262658" cy="422315"/>
          </a:xfrm>
          <a:prstGeom prst="roundRect">
            <a:avLst>
              <a:gd name="adj" fmla="val 17238"/>
            </a:avLst>
          </a:prstGeom>
          <a:noFill/>
          <a:ln w="7620">
            <a:solidFill>
              <a:srgbClr val="1A2D7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82226" y="2537579"/>
            <a:ext cx="987623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CHAPTER 2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244709" y="2973943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React Router + Data Handling</a:t>
            </a:r>
            <a:endParaRPr lang="en-US" sz="4450" dirty="0"/>
          </a:p>
        </p:txBody>
      </p:sp>
      <p:sp>
        <p:nvSpPr>
          <p:cNvPr id="7" name="Text 4"/>
          <p:cNvSpPr/>
          <p:nvPr/>
        </p:nvSpPr>
        <p:spPr>
          <a:xfrm>
            <a:off x="6244709" y="4724281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Move beyond single-page views — learn to structure multi-page React applications with clean, declarative routing and dynamic navigation patterns.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394" y="536138"/>
            <a:ext cx="6761202" cy="601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Routing Setup &amp; Navigation</a:t>
            </a:r>
            <a:endParaRPr lang="en-US" sz="3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394" y="1542336"/>
            <a:ext cx="8474273" cy="52998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246" y="3922052"/>
            <a:ext cx="1747131" cy="616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Link / NavLink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4039573" y="6316732"/>
            <a:ext cx="1747131" cy="308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Route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193387" y="4074952"/>
            <a:ext cx="1747131" cy="308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Routes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039573" y="1605123"/>
            <a:ext cx="1747131" cy="616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BrowserRouter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76394" y="7015639"/>
            <a:ext cx="8474273" cy="539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Declarative routing keeps navigation logic co-located with component structure, making large apps easier to reason about.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4296" y="1923217"/>
            <a:ext cx="2405301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Key Concepts</a:t>
            </a:r>
            <a:endParaRPr lang="en-US" sz="18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72757" y="2402919"/>
            <a:ext cx="274201" cy="2742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198298" y="2397323"/>
            <a:ext cx="3601283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Dynamic Routes with Params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10198298" y="2852142"/>
            <a:ext cx="3763208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 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:id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in route paths and 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useParams()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to read values — essential for detail pages and resource-based URLs.</a:t>
            </a:r>
            <a:endParaRPr lang="en-US" sz="14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2757" y="3990023"/>
            <a:ext cx="274201" cy="27420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198298" y="3984427"/>
            <a:ext cx="2405301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Nested Routes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10198298" y="4439245"/>
            <a:ext cx="3763208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Compose layouts with child routes using 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&lt;Outlet /&gt;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 Keep shared UI (navbars, sidebars) in parent route components.</a:t>
            </a:r>
            <a:endParaRPr lang="en-US" sz="14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72757" y="5577126"/>
            <a:ext cx="274201" cy="27420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198298" y="5571530"/>
            <a:ext cx="2405301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Redirects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10198298" y="6026348"/>
            <a:ext cx="3763208" cy="1093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 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useNavigate()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for programmatic navigation — redirect after form submission, auth checks, or 404 fallbacks.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5DC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28" y="162282"/>
            <a:ext cx="5269944" cy="790491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44709" y="2994779"/>
            <a:ext cx="1261824" cy="422315"/>
          </a:xfrm>
          <a:prstGeom prst="roundRect">
            <a:avLst>
              <a:gd name="adj" fmla="val 17238"/>
            </a:avLst>
          </a:prstGeom>
          <a:noFill/>
          <a:ln w="7620">
            <a:solidFill>
              <a:srgbClr val="1A2D7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82226" y="3067288"/>
            <a:ext cx="986790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CHAPTER 3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244709" y="3503652"/>
            <a:ext cx="7319724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API Integration &amp; Storage</a:t>
            </a:r>
            <a:endParaRPr lang="en-US" sz="4450" dirty="0"/>
          </a:p>
        </p:txBody>
      </p:sp>
      <p:sp>
        <p:nvSpPr>
          <p:cNvPr id="7" name="Text 4"/>
          <p:cNvSpPr/>
          <p:nvPr/>
        </p:nvSpPr>
        <p:spPr>
          <a:xfrm>
            <a:off x="6244709" y="4541282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Connect your React frontend to real data — fetch from APIs, persist state in the browser, and architect reusable data service layers.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0922" y="558522"/>
            <a:ext cx="8413433" cy="668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Fetch, Axios &amp; Custom Services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10922" y="1726406"/>
            <a:ext cx="3083004" cy="3149560"/>
          </a:xfrm>
          <a:prstGeom prst="roundRect">
            <a:avLst>
              <a:gd name="adj" fmla="val 2767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21663" y="1937147"/>
            <a:ext cx="2661523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Fetch API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21663" y="2461617"/>
            <a:ext cx="2661523" cy="190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Built-in browser API for HTTP requests. Pair with </a:t>
            </a:r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async/await</a:t>
            </a:r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and handle errors explicitly — </a:t>
            </a:r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only rejects on network failure, not HTTP errors.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984308" y="1726406"/>
            <a:ext cx="3083123" cy="3149560"/>
          </a:xfrm>
          <a:prstGeom prst="roundRect">
            <a:avLst>
              <a:gd name="adj" fmla="val 2767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95048" y="1937147"/>
            <a:ext cx="2661642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Axios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195048" y="2461617"/>
            <a:ext cx="2661642" cy="2203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popular HTTP client with automatic JSON parsing, request/response interceptors, and cleaner error handling out of the box.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10922" y="5066348"/>
            <a:ext cx="6356509" cy="1897975"/>
          </a:xfrm>
          <a:prstGeom prst="roundRect">
            <a:avLst>
              <a:gd name="adj" fmla="val 4495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1663" y="5277088"/>
            <a:ext cx="2901315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Custom Service Layer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21663" y="5801558"/>
            <a:ext cx="5935028" cy="95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Abstract API calls into dedicated service files (e.g. </a:t>
            </a:r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userService.js</a:t>
            </a:r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). Keeps components clean and makes swapping backends trivial.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570589" y="1702594"/>
            <a:ext cx="2672596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Browser Storage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570589" y="2250877"/>
            <a:ext cx="6356509" cy="1606034"/>
          </a:xfrm>
          <a:prstGeom prst="roundRect">
            <a:avLst>
              <a:gd name="adj" fmla="val 6832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47729" y="2250877"/>
            <a:ext cx="91440" cy="1606034"/>
          </a:xfrm>
          <a:prstGeom prst="roundRect">
            <a:avLst>
              <a:gd name="adj" fmla="val 93297"/>
            </a:avLst>
          </a:prstGeom>
          <a:solidFill>
            <a:srgbClr val="1A2D7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5150" y="2476857"/>
            <a:ext cx="2672596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Local Storage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865150" y="3001327"/>
            <a:ext cx="5835968" cy="629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Persistent across sessions. Best for user preferences and tokens.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570589" y="4047292"/>
            <a:ext cx="6356509" cy="1606034"/>
          </a:xfrm>
          <a:prstGeom prst="roundRect">
            <a:avLst>
              <a:gd name="adj" fmla="val 6832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7729" y="4047292"/>
            <a:ext cx="91440" cy="1606034"/>
          </a:xfrm>
          <a:prstGeom prst="roundRect">
            <a:avLst>
              <a:gd name="adj" fmla="val 93297"/>
            </a:avLst>
          </a:prstGeom>
          <a:solidFill>
            <a:srgbClr val="1A2D7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5150" y="4273272"/>
            <a:ext cx="2672596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Session Storage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865150" y="4797743"/>
            <a:ext cx="5835968" cy="629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Cleared on tab close. Ideal for temporary UI state or wizard steps.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570589" y="5843707"/>
            <a:ext cx="6356509" cy="1613654"/>
          </a:xfrm>
          <a:prstGeom prst="roundRect">
            <a:avLst>
              <a:gd name="adj" fmla="val 6800"/>
            </a:avLst>
          </a:prstGeom>
          <a:solidFill>
            <a:srgbClr val="FFFAFA"/>
          </a:solidFill>
          <a:ln w="22860">
            <a:solidFill>
              <a:srgbClr val="BBC2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7729" y="5843707"/>
            <a:ext cx="91440" cy="1613654"/>
          </a:xfrm>
          <a:prstGeom prst="roundRect">
            <a:avLst>
              <a:gd name="adj" fmla="val 93297"/>
            </a:avLst>
          </a:prstGeom>
          <a:solidFill>
            <a:srgbClr val="1A2D7A"/>
          </a:solidFill>
          <a:ln/>
        </p:spPr>
      </p:sp>
      <p:sp>
        <p:nvSpPr>
          <p:cNvPr id="23" name="Text 21"/>
          <p:cNvSpPr/>
          <p:nvPr/>
        </p:nvSpPr>
        <p:spPr>
          <a:xfrm>
            <a:off x="7865150" y="6069687"/>
            <a:ext cx="2672596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Cookies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865150" y="6594158"/>
            <a:ext cx="5835968" cy="637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Sent with every HTTP request. Use for auth tokens with </a:t>
            </a:r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HttpOnly</a:t>
            </a:r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and </a:t>
            </a:r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Secure</a:t>
            </a:r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flags for security.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45550"/>
            <a:ext cx="726959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Day 2 — What You'll Build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2691527"/>
            <a:ext cx="2430542" cy="15020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446436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Dynamic Form UI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8309" y="4950500"/>
            <a:ext cx="4190762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controlled multi-field form with real-time validation, error feedback, and conditional submit logic using React event handling and lifecycle hooks.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819" y="2691527"/>
            <a:ext cx="2430542" cy="15020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9819" y="4464367"/>
            <a:ext cx="333982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Multi-Page Application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19819" y="4950500"/>
            <a:ext cx="419076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React Router-powered app with dynamic routes, nested layouts, and programmatic navigation — structured for real-world scale.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1329" y="2691527"/>
            <a:ext cx="2430542" cy="15020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81329" y="4464367"/>
            <a:ext cx="359092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API-Connected Frontend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81329" y="4950500"/>
            <a:ext cx="419076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Fetch data from a mock API using Axios and custom services, then persist relevant state to local storage — a full frontend data layer.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2026-04-13T07:44:53Z</dcterms:created>
  <dcterms:modified xsi:type="dcterms:W3CDTF">2026-04-13T07:44:53Z</dcterms:modified>
</cp:coreProperties>
</file>